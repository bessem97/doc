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92B44"/>
                </a:solidFill>
              </a:defRPr>
            </a:pPr>
            <a:r>
              <a:t>Simulation 3D gravimétrique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Détection de failles par 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62D37"/>
                </a:solidFill>
              </a:defRPr>
            </a:pPr>
            <a:r>
              <a:t>Explication complète du code Python / Google Colab pour débutant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1371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8984"/>
                </a:solidFill>
              </a:defRPr>
            </a:pPr>
            <a:r>
              <a:t>Sous-sol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4251960"/>
            <a:ext cx="822960" cy="0"/>
          </a:xfrm>
          <a:prstGeom prst="line">
            <a:avLst/>
          </a:prstGeom>
          <a:ln w="25400">
            <a:solidFill>
              <a:srgbClr val="2A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3886200"/>
            <a:ext cx="1371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269AA"/>
                </a:solidFill>
              </a:defRPr>
            </a:pPr>
            <a:r>
              <a:t>Gravité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4251960"/>
            <a:ext cx="822960" cy="0"/>
          </a:xfrm>
          <a:prstGeom prst="line">
            <a:avLst/>
          </a:prstGeom>
          <a:ln w="25400">
            <a:solidFill>
              <a:srgbClr val="32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3886200"/>
            <a:ext cx="1371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539D"/>
                </a:solidFill>
              </a:defRPr>
            </a:pPr>
            <a:r>
              <a:t>Attributs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4251960"/>
            <a:ext cx="822959" cy="0"/>
          </a:xfrm>
          <a:prstGeom prst="line">
            <a:avLst/>
          </a:prstGeom>
          <a:ln w="25400">
            <a:solidFill>
              <a:srgbClr val="705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3886200"/>
            <a:ext cx="1371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8936"/>
                </a:solidFill>
              </a:defRPr>
            </a:pPr>
            <a:r>
              <a:t>IA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9720" y="4251960"/>
            <a:ext cx="822960" cy="0"/>
          </a:xfrm>
          <a:prstGeom prst="line">
            <a:avLst/>
          </a:prstGeom>
          <a:ln w="25400">
            <a:solidFill>
              <a:srgbClr val="E0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3886200"/>
            <a:ext cx="1371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915F"/>
                </a:solidFill>
              </a:defRPr>
            </a:pPr>
            <a:r>
              <a:t>Carte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663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E7D"/>
                </a:solidFill>
              </a:defRPr>
            </a:pPr>
            <a:r>
              <a:t>Objectif : comprendre ce que fait chaque bloc du programme, pourquoi il existe et comment modifier les résultats.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1. La grande chaîne du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Avant de lire le code, il faut comprendre l'histoire racontée par le programme.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Créer une géologie artificielle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Une faille inclinée est placée sous la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69AA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3560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Calculer la gravité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Chaque petit volume rocheux influence la mesure.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43560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984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24328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340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Calculer les attributs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99816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transforme la gravité en plusieurs indicateurs.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7340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539D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24328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340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Préparer l'IA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99816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Chaque pixel devient un exemple avec 7 caractéristiques.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7340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8936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22776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32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915F"/>
                </a:solidFill>
              </a:defRPr>
            </a:pPr>
            <a:r>
              <a:t>Apprendre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98264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Le Random Forest apprend « faille / pas faille 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03250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7915F"/>
                </a:solidFill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22776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32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Évaluer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98264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mesure si le modèle reconnaît correctement la faille.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03250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E4646"/>
                </a:solidFill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21224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30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Cartographier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96712"/>
            <a:ext cx="4937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calcule une probabilité de faille sur toute la grille.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3095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69AA"/>
                </a:solidFill>
              </a:defRPr>
            </a:pPr>
            <a: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2. Les bibliothèques : les outils du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Au début, Python charge des outils déjà programmés par d'autres.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438912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4974336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from scipy.ndimage import gaussian_filter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from sklearn.metrics import 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classification_report,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confusion_matrix,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roc_auc_score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44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09928"/>
            <a:ext cx="5029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Calculs numériques, tableaux et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715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Matplotlib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081528"/>
            <a:ext cx="5029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Créer les graphiques et cartes.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87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SciPy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53127"/>
            <a:ext cx="5029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Filtrage et traitement du signal.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49240"/>
            <a:ext cx="5303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458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8247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Machine Learning : Random Forest + métriques.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3. Construire la grille d'observation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Le programme imagine 97 × 97 points de mesure à la surface.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029200" cy="320040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470001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= 6.67430e-11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x = np.linspace(-8, 8, 97)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y = np.linspace(-8, 8, 97)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Xo, Yo = np.meshgrid(x, y)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dx = x[1] - x[0]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dy = y[1] - y[0]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234440"/>
            <a:ext cx="5394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441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0992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Constante gravitationnelle utilisée dans la formule de gravité.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560320"/>
            <a:ext cx="5394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6700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x et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035808"/>
            <a:ext cx="5120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Coordonnées horizontales de la zone étudiée : de −8 à +8 km.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023360"/>
            <a:ext cx="5394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133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Xo et 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498848"/>
            <a:ext cx="5120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Créent une grille 2D : chaque intersection devient un point d'observation.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2B44"/>
                </a:solidFill>
              </a:defRPr>
            </a:pPr>
            <a:r>
              <a:t>97 × 97 = 9 409 points de mesure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4. Créer la géologie artificielle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La fonction make_sources() construit les petits volumes rocheux qui représentent le corps géologique.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486400" cy="448056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52728"/>
            <a:ext cx="515721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def make_sources(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fault_x0=0.0,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dip_deg=22,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rho=350,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z_top=0.6,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z_bottom=4.5,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y_half=5.0,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x_half=4.0,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cell=0.45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2527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fault_x0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1848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Position horizontale de la faille.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41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dip_deg = 22°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0720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Inclinaison de l'interface géologique.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2044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6301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rho = 350 kg/m³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959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Contraste de densité entre les matériaux.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0916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818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z_top / z_bottom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1846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Profondeur du modèle : environ 0,6 à 4,5 km.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5. Comment le code fabrique une faille inclinée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La ligne clé est une équation géométrique.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4846320" cy="109728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44168"/>
            <a:ext cx="45171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xb = fault_x0 + np.tan(dip) *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D37"/>
                </a:solidFill>
              </a:defRPr>
            </a:pPr>
            <a:r>
              <a:t>À chaque profondeur z, le programme calcule une nouvelle position xb.</a:t>
            </a:r>
            <a:br/>
            <a:r>
              <a:t>Cela déplace progressivement l'interface vers la droite.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5212080"/>
            <a:ext cx="45720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E7D"/>
                </a:solidFill>
              </a:defRPr>
            </a:pPr>
            <a:r>
              <a:t>X (km)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400800" y="1828800"/>
            <a:ext cx="0" cy="338328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2356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E7D"/>
                </a:solidFill>
              </a:defRPr>
            </a:pPr>
            <a:r>
              <a:t>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2331720"/>
            <a:ext cx="4572000" cy="0"/>
          </a:xfrm>
          <a:prstGeom prst="line">
            <a:avLst/>
          </a:prstGeom>
          <a:ln w="25400">
            <a:solidFill>
              <a:srgbClr val="32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2331720"/>
            <a:ext cx="2103120" cy="2697480"/>
          </a:xfrm>
          <a:prstGeom prst="line">
            <a:avLst/>
          </a:prstGeom>
          <a:ln w="50800">
            <a:solidFill>
              <a:srgbClr val="BE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0" y="3200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4646"/>
                </a:solidFill>
              </a:defRPr>
            </a:pPr>
            <a:r>
              <a:t>FAILle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69AA"/>
                </a:solidFill>
              </a:defRPr>
            </a:pPr>
            <a:r>
              <a:t>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806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E7D"/>
                </a:solidFill>
              </a:defRPr>
            </a:pPr>
            <a:r>
              <a:t>La ligne rouge = interface inclinée créée artificiellement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6. Transformer le sous-sol en petits voxels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Le modèle ne calcule pas toute la Terre d'un seul coup : il la découpe en petits cubes.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383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cell = 0.45 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Taille d'un petit cube rocheux.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383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xs / ys / zs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Positions des cubes selon X, Y et profondeur 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3383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if xx &gt;= xb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81727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garde seulement les cubes situés du côté choisi de l'interface.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41732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60" y="141732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41732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41732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1732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05740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60" y="205740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05740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205740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05740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205740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269748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94960" y="269748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697480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69748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269748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697480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3337559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94960" y="3337559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3337559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3337559"/>
            <a:ext cx="566928" cy="530352"/>
          </a:xfrm>
          <a:prstGeom prst="rect">
            <a:avLst/>
          </a:prstGeom>
          <a:solidFill>
            <a:srgbClr val="E8EB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3337559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79" y="3337559"/>
            <a:ext cx="566928" cy="530352"/>
          </a:xfrm>
          <a:prstGeom prst="rect">
            <a:avLst/>
          </a:prstGeom>
          <a:solidFill>
            <a:srgbClr val="2A89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2D37"/>
                </a:solidFill>
              </a:defRPr>
            </a:pPr>
            <a:r>
              <a:t>Chaque carré représente</a:t>
            </a:r>
            <a:br/>
            <a:r>
              <a:t>un petit volume de roche.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7. Calculer l'anomalie gravimétrique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forward_gravity_3d() transforme les voxels souterrains en une mesure de gravité à la surface.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486400" cy="429768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52728"/>
            <a:ext cx="515721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dm = rho * (cell*1000)**3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r2 = dxm**2 + dym**2 + zm**2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result += np.sum(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G * dm * zm / r2**1.5,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axis=1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= result.reshape(Xo.shape) * 1e5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252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1848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Masse de chaque voxel = densité ×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4436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Distance entre le point d'observation et le voxel.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9476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044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Somme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7024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Toutes les contributions des voxels sont additionnées.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120640"/>
            <a:ext cx="5029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52303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× 10⁵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596127"/>
            <a:ext cx="47548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Conversion de l'unité SI vers le mGal.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8. Rendre la simulation moins parfaite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Trois opérations rendent les données plus proches d'un signal expérimental simplifié.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320040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497433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+= 0.12*Xo - 0.08*Yo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= gaussian_filter(g, 0.55)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+= rng.normal(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0, noise_mgal, g.shape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44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1. Gradient régional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09928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Ajoute une tendance qui varie avec X et 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715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2. Lissage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081528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Réduit les variations très brusques.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873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3. Bruit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53127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Ajoute de petites erreurs aléatoires.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94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noise_mgal = 0.04 → plus le bruit augmente, plus le problème devient difficile.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9. Extraire 6 attributs géophysiques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La fonction attributes() regarde la même anomalie sous plusieurs angles.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dG/dX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Variation horizontale selon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441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dG/dY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0992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Variation horizontale selon 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441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VDR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0992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Dérivée verticale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THDR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5876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Amplitude du gradient horizontal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38328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93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Tilt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85876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Rapport angulaire entre vertical et horizontal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383280"/>
            <a:ext cx="34290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93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915F"/>
                </a:solidFill>
              </a:defRPr>
            </a:pPr>
            <a:r>
              <a:t>Theta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58768"/>
            <a:ext cx="3154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Angle complémentaire utilisé comme indicateur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2B44"/>
                </a:solidFill>
              </a:defRPr>
            </a:pPr>
            <a:r>
              <a:t>+ la gravité g elle-même → 7 caractéristiques au total pour chaque point.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10. Pourquoi utiliser la FFT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La FFT permet de calculer rapidement des dérivées spatiales à partir de la grille de gravité.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86400" cy="429768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44168"/>
            <a:ext cx="515721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kx = 2*np.pi*np.fft.fftfreq(...)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ky = 2*np.pi*np.fft.fftfreq(...)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F = np.fft.fft2(g)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dgdx = real(ifft2(1j*KX*F))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dgdy = real(ifft2(1j*KY*F))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vdr = real(ifft2(K*F))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029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44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Idée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09928"/>
            <a:ext cx="4754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transforme temporairement la carte de gravité dans le domaine fréquentiel.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5029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614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Pourquoi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27248"/>
            <a:ext cx="4754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Les dérivées deviennent beaucoup plus faciles à calculer avec les fréquences.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69080"/>
            <a:ext cx="5029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1788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Retour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544568"/>
            <a:ext cx="4754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ifft2 reconstruit les cartes spatiales d'attributs.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11. Mettre les variables sur une échelle 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La fonction z() standardise chaque variable.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105156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48828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z(a) = (a - a.mean()) / (a.std() + 1e-9)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356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Avant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01368"/>
            <a:ext cx="4846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Une variable peut avoir des valeurs très grandes, une autre très petites.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1206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852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Après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18688"/>
            <a:ext cx="4846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Chaque variable est centrée autour de 0 et mise à une échelle comparable.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62D37"/>
                </a:solidFill>
              </a:defRPr>
            </a:pPr>
            <a:r>
              <a:t>Exemple :</a:t>
            </a:r>
            <a:br/>
            <a:r>
              <a:t>Valeurs originales → 120, 130, 140</a:t>
            </a:r>
            <a:br/>
            <a:r>
              <a:t>Valeurs standardisées → environ −1, 0, 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E7D"/>
                </a:solidFill>
              </a:defRPr>
            </a:pPr>
            <a:r>
              <a:t>Ce n'est pas une nouvelle information physique : c'est une préparation des données pour le Machine Learning.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12. Construire les données d'apprentissage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Chaque point de la grille devient une ligne dans la base de données de l'IA.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669280" cy="182880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98448"/>
            <a:ext cx="534009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features = np.column_stack([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z(g), z(dgdx), z(dgdy),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z(vdr), z(thdr), z(tilt), z(theta)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49377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298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Une ligne = un point de mesure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6420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Le point possède 7 caractéristiques.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97480"/>
            <a:ext cx="49377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807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7296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Matrice d'entrée de l'IA.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669280" cy="123444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67328"/>
            <a:ext cx="534009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labels = (np.abs(Xo) &lt;= 0.30).astype(int).ravel()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49377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767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0 = pas de faille ; 1 = faille.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663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D37"/>
                </a:solidFill>
              </a:defRPr>
            </a:pPr>
            <a:r>
              <a:t>Attention : le label est créé artificiellement à partir de la position 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13. Séparer apprentissage et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Le modèle doit être testé sur des données qu'il n'a pas vues pendant son apprentissage.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03520" cy="192024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44168"/>
            <a:ext cx="49743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train_test_split(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features,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labels,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test_size=.25,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stratify=labels,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random_state=42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44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75 % — entraînement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0992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Le modèle apprend les relations entre les caractéristiques et les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06040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25 % —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08152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On vérifie ensuite ses performances sur des exemples gardés à part.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6583680" cy="640080"/>
          </a:xfrm>
          <a:prstGeom prst="rect">
            <a:avLst/>
          </a:prstGeom>
          <a:solidFill>
            <a:srgbClr val="2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4160520"/>
            <a:ext cx="2194560" cy="640080"/>
          </a:xfrm>
          <a:prstGeom prst="rect">
            <a:avLst/>
          </a:prstGeom>
          <a:solidFill>
            <a:srgbClr val="E0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E7D"/>
                </a:solidFill>
              </a:defRPr>
            </a:pPr>
            <a:r>
              <a:t>Séparation visuelle : apprentissage à gauche, test à droite.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14. Le Random Forest : l'IA qui apprend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Le Random Forest utilise beaucoup d'arbres de décision et combine leurs réponses.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486400" cy="228600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98448"/>
            <a:ext cx="515721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rf = RandomForestClassifier(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n_estimators=220,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max_depth=18,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min_samples_leaf=3,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class_weight='balanced',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random_state=42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rf.fit(Xtr, ytr)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6400800" y="1417320"/>
            <a:ext cx="960120" cy="685800"/>
          </a:xfrm>
          <a:prstGeom prst="triangle">
            <a:avLst/>
          </a:prstGeom>
          <a:solidFill>
            <a:srgbClr val="2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D37"/>
                </a:solidFill>
              </a:defRPr>
            </a:pPr>
            <a:r>
              <a:t>Arbre 1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7818120" y="1417320"/>
            <a:ext cx="960120" cy="685800"/>
          </a:xfrm>
          <a:prstGeom prst="triangle">
            <a:avLst/>
          </a:prstGeom>
          <a:solidFill>
            <a:srgbClr val="32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21031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D37"/>
                </a:solidFill>
              </a:defRPr>
            </a:pPr>
            <a:r>
              <a:t>Arbre 2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9235440" y="1417320"/>
            <a:ext cx="960120" cy="685800"/>
          </a:xfrm>
          <a:prstGeom prst="triangle">
            <a:avLst/>
          </a:prstGeom>
          <a:solidFill>
            <a:srgbClr val="70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1031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D37"/>
                </a:solidFill>
              </a:defRPr>
            </a:pPr>
            <a:r>
              <a:t>Arbre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2743200"/>
            <a:ext cx="13716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686800" y="2743200"/>
            <a:ext cx="4572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3017520"/>
            <a:ext cx="1828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8936"/>
                </a:solidFill>
              </a:defRPr>
            </a:pPr>
            <a:r>
              <a:t>VOTE / PROBABILITÉ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49377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407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Pourquoi plusieurs arbres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73168"/>
            <a:ext cx="46634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Chaque arbre peut faire des erreurs différentes. Ensemble, ils donnent une décision plus robuste.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15. Mesurer la qualité de l'IA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Après l'apprentissage, le programme calcule plusieurs indicateurs.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303520" cy="219456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98448"/>
            <a:ext cx="497433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p = rf.predict_proba(Xte)[:,1]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yp = (p &gt;= .5).astype(int)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roc_auc_score(yte, p)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classification_report(yte, yp)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confusion_matrix(yte, yp)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2070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Parmi les points déclarés « faille », combien sont vraiment des failles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67712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43200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Parmi les vraies failles, combien ont été détectées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38144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13631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Compromis entre précision et rappel.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08576"/>
            <a:ext cx="5120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7183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84064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Capacité globale à séparer les deux classes.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16. Passer d'une classification à une carte de probabilité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Le modèle peut donner une probabilité pour chaque point de toute la grille.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577840" cy="146304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44168"/>
            <a:ext cx="5248655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prob = rf.predict_proba(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features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)[:,1].reshape(g.shape)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658368" cy="2468880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9480" y="1554480"/>
            <a:ext cx="658368" cy="2468880"/>
          </a:xfrm>
          <a:prstGeom prst="rect">
            <a:avLst/>
          </a:prstGeom>
          <a:solidFill>
            <a:srgbClr val="D0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554480"/>
            <a:ext cx="658368" cy="2468880"/>
          </a:xfrm>
          <a:prstGeom prst="rect">
            <a:avLst/>
          </a:prstGeom>
          <a:solidFill>
            <a:srgbClr val="AA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554480"/>
            <a:ext cx="658368" cy="2468880"/>
          </a:xfrm>
          <a:prstGeom prst="rect">
            <a:avLst/>
          </a:prstGeom>
          <a:solidFill>
            <a:srgbClr val="F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0" y="1554480"/>
            <a:ext cx="658368" cy="2468880"/>
          </a:xfrm>
          <a:prstGeom prst="rect">
            <a:avLst/>
          </a:prstGeom>
          <a:solidFill>
            <a:srgbClr val="EB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2680" y="1554480"/>
            <a:ext cx="658368" cy="2468880"/>
          </a:xfrm>
          <a:prstGeom prst="rect">
            <a:avLst/>
          </a:prstGeom>
          <a:solidFill>
            <a:srgbClr val="C8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D"/>
                </a:solidFill>
              </a:defRPr>
            </a:pPr>
            <a:r>
              <a:t>0.0 = faible probabilité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E7D"/>
                </a:solidFill>
              </a:defRPr>
            </a:pPr>
            <a:r>
              <a:t>1.0 = forte probabilité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08960"/>
            <a:ext cx="5577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915F"/>
                </a:solidFill>
              </a:defRPr>
            </a:pPr>
            <a:r>
              <a:t>Interprétation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5303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Chaque pixel reçoit une valeur entre 0 et 1. On peut ensuite afficher cette valeur sous forme de carte.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72000"/>
            <a:ext cx="10881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817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Important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4748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Une probabilité élevée signifie « le modèle pense que ce point ressemble aux exemples de faille ». Ce n'est pas une preuve géologique.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17. Quelles variables modifier pour changer le résultat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Ce sont les boutons principaux de ta simulation.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52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fault_x0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Déplace la faille à gauche/droite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4447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−2 à +2 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dip_deg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Change son inclinaison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4447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10° à 75°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04872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rho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Change le contraste de densité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066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100 à 800 kg/m³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04872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z_top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Profondeur du sommet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066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0.3 à 2 km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66744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z_bottom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422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Profondeur du bas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9684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3 à 7 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66744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915F"/>
                </a:solidFill>
              </a:defRPr>
            </a:pPr>
            <a:r>
              <a:t>noise_mgal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422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Ajoute plus ou moins de bruit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9684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0.01 à 0.20 mGal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928616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38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69AA"/>
                </a:solidFill>
              </a:defRPr>
            </a:pPr>
            <a:r>
              <a:t>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041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Taille des voxels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0.25 à 0.60 km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928616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038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seed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041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Change la réalisation du bruit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42, 123, 999...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18. Le point scientifique le plus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Ton programme est un excellent prototype pédagogique, mais il faut connaître ses limites.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Ce que le programme fait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32004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Il montre toute la chaîne : géologie → gravité → attributs → Machine Learning → carte.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98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E4646"/>
                </a:solidFill>
              </a:defRPr>
            </a:pPr>
            <a:r>
              <a:t>Ce qu'il ne prouve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64208"/>
            <a:ext cx="32004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Un bon AUC sur des données synthétiques ne prouve pas que l'IA détectera une vraie faille sur le terrain.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88720"/>
            <a:ext cx="3474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98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Prochaine 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64208"/>
            <a:ext cx="32004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Tester plusieurs modèles synthétiques puis utiliser des données gravimétriques réelles et une vérité terrain indépendante.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D37"/>
                </a:solidFill>
              </a:defRPr>
            </a:pPr>
            <a:r>
              <a:t>• Faire varier position, pendage, profondeur, densité et bruit.</a:t>
            </a:r>
          </a:p>
          <a:p>
            <a:pPr>
              <a:spcAft>
                <a:spcPts val="800"/>
              </a:spcAft>
              <a:defRPr sz="1400">
                <a:solidFill>
                  <a:srgbClr val="262D37"/>
                </a:solidFill>
              </a:defRPr>
            </a:pPr>
            <a:r>
              <a:t>• Créer plusieurs centaines de scénarios différents.</a:t>
            </a:r>
          </a:p>
          <a:p>
            <a:pPr>
              <a:spcAft>
                <a:spcPts val="800"/>
              </a:spcAft>
              <a:defRPr sz="1400">
                <a:solidFill>
                  <a:srgbClr val="262D37"/>
                </a:solidFill>
              </a:defRPr>
            </a:pPr>
            <a:r>
              <a:t>• Éviter de mélanger des pixels voisins entre train et test : utiliser idéalement une séparation spatiale.</a:t>
            </a:r>
          </a:p>
          <a:p>
            <a:pPr>
              <a:spcAft>
                <a:spcPts val="800"/>
              </a:spcAft>
              <a:defRPr sz="1400">
                <a:solidFill>
                  <a:srgbClr val="262D37"/>
                </a:solidFill>
              </a:defRPr>
            </a:pPr>
            <a:r>
              <a:t>• Comparer Random Forest, XGBoost et éventuellement un réseau de neurones.</a:t>
            </a:r>
          </a:p>
          <a:p>
            <a:pPr>
              <a:spcAft>
                <a:spcPts val="800"/>
              </a:spcAft>
              <a:defRPr sz="1400">
                <a:solidFill>
                  <a:srgbClr val="262D37"/>
                </a:solidFill>
              </a:defRPr>
            </a:pPr>
            <a:r>
              <a:t>• Valider sur un jeu de données indépendant avant toute conclusion géologique.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19. Résumé : si tu dois expliquer le projet à quelqu'un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Tu peux retenir cette phrase et cette chaîne.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2B44"/>
                </a:solidFill>
              </a:defRPr>
            </a:pPr>
            <a:r>
              <a:t>« Je simule une structure géologique contenant une interface inclinée, je calcule son anomalie gravimétrique, j'en extrais plusieurs attributs géophysiques, puis j'entraîne un Random Forest pour distinguer les zones correspondant à la faille.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8984"/>
                </a:solidFill>
              </a:defRPr>
            </a:pPr>
            <a:r>
              <a:t>Géologie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9384" y="3429000"/>
            <a:ext cx="173736" cy="0"/>
          </a:xfrm>
          <a:prstGeom prst="line">
            <a:avLst/>
          </a:prstGeom>
          <a:ln w="19050">
            <a:solidFill>
              <a:srgbClr val="2A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30552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8984"/>
                </a:solidFill>
              </a:defRPr>
            </a:pPr>
            <a:r>
              <a:t>Voxels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57016" y="3429000"/>
            <a:ext cx="173736" cy="0"/>
          </a:xfrm>
          <a:prstGeom prst="line">
            <a:avLst/>
          </a:prstGeom>
          <a:ln w="19050">
            <a:solidFill>
              <a:srgbClr val="2A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58184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269AA"/>
                </a:solidFill>
              </a:defRPr>
            </a:pPr>
            <a:r>
              <a:t>Gravité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4648" y="3429000"/>
            <a:ext cx="173736" cy="0"/>
          </a:xfrm>
          <a:prstGeom prst="line">
            <a:avLst/>
          </a:prstGeom>
          <a:ln w="19050">
            <a:solidFill>
              <a:srgbClr val="32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539D"/>
                </a:solidFill>
              </a:defRPr>
            </a:pPr>
            <a:r>
              <a:t>Attributs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79" y="3429000"/>
            <a:ext cx="173737" cy="0"/>
          </a:xfrm>
          <a:prstGeom prst="line">
            <a:avLst/>
          </a:prstGeom>
          <a:ln w="19050">
            <a:solidFill>
              <a:srgbClr val="705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13448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539D"/>
                </a:solidFill>
              </a:defRPr>
            </a:pPr>
            <a:r>
              <a:t>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39912" y="3429000"/>
            <a:ext cx="173736" cy="0"/>
          </a:xfrm>
          <a:prstGeom prst="line">
            <a:avLst/>
          </a:prstGeom>
          <a:ln w="19050">
            <a:solidFill>
              <a:srgbClr val="705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41080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8936"/>
                </a:solidFill>
              </a:defRPr>
            </a:pPr>
            <a:r>
              <a:t>Random Forest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67544" y="3429000"/>
            <a:ext cx="173736" cy="0"/>
          </a:xfrm>
          <a:prstGeom prst="line">
            <a:avLst/>
          </a:prstGeom>
          <a:ln w="19050">
            <a:solidFill>
              <a:srgbClr val="E08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68712" y="3063240"/>
            <a:ext cx="14173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328269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915F"/>
                </a:solidFill>
              </a:defRPr>
            </a:pPr>
            <a:r>
              <a:t>Probabilité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646"/>
                </a:solidFill>
              </a:defRPr>
            </a:pPr>
            <a:r>
              <a:t>Et surtout : ce projet est une simulation synthétique. Il sert à apprendre la méthode et préparer une validation sur des données réelles.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57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6E7D"/>
                </a:solidFill>
              </a:defRPr>
            </a:pPr>
            <a:r>
              <a:t>Tu n'as pas besoin de mémoriser tout le code. Il faut d'abord comprendre le rôle de chaque bloc.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</a:defRPr>
            </a:pPr>
            <a:r>
              <a:t>20. Petit exercice pour apprendre 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E7D"/>
                </a:solidFill>
              </a:defRPr>
            </a:pPr>
            <a:r>
              <a:t>Ne change qu'une variable à la fois et observe ce qui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2011680"/>
          </a:xfrm>
          <a:prstGeom prst="roundRect">
            <a:avLst/>
          </a:prstGeom>
          <a:solidFill>
            <a:srgbClr val="1E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52728"/>
            <a:ext cx="506577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g = forward_gravity_3d(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fault_x0=1.0,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dip_deg=45,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rho=500,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noise_mgal=0.10,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seed=123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labels = (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    np.abs(Xo - 1.0) &lt;= 0.30</a:t>
            </a:r>
          </a:p>
          <a:p>
            <a:pPr>
              <a:spcAft>
                <a:spcPts val="200"/>
              </a:spcAft>
              <a:defRPr sz="1050">
                <a:solidFill>
                  <a:srgbClr val="EBF0F5"/>
                </a:solidFill>
                <a:latin typeface="Consolas"/>
              </a:defRPr>
            </a:pPr>
            <a:r>
              <a:t>).astype(int).ravel()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252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984"/>
                </a:solidFill>
              </a:defRPr>
            </a:pPr>
            <a:r>
              <a:t>Expérience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1848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Passe dip_deg de 22 à 45. La géométrie de la faille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8936"/>
                </a:solidFill>
              </a:defRPr>
            </a:pPr>
            <a:r>
              <a:t>Expérience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4436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Passe noise_mgal de 0.04 à 0.20. Le signal devient plus difficile.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94760"/>
            <a:ext cx="5029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5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044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539D"/>
                </a:solidFill>
              </a:defRPr>
            </a:pPr>
            <a:r>
              <a:t>Expérience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70248"/>
            <a:ext cx="475488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Passe rho de 350 à 700. Le contraste gravimétrique augmente.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12064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52303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7915F"/>
                </a:solidFill>
              </a:defRPr>
            </a:pPr>
            <a:r>
              <a:t>Règle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596127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2D37"/>
                </a:solidFill>
              </a:defRPr>
            </a:pPr>
            <a:r>
              <a:t>Après chaque changement : regarde la gravité, les attributs et la carte finale.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7453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Simulation 3D gravimétrique — détection de failles par IA   •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